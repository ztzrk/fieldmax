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318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Selamat pagi/siang Dewan Penguji. Saya Aflah Alifu Na Mappatajang Rahman mempresentasikan hasil skripsi FieldMax.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1.1: Kebutuhan platform marketplace terpadu multi-venue.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1.1: Empat masalah mendasar sistem reservasi konvensional.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1.2: Dua rumusan masalah utama skripsi.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1.1: Diagram pemetaan masalah sistem manual, dampak operasional, dan solusi terpadu FieldMax.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1.3: Tujuan penelitian menjawab langsung rumusan masalah.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1.4: Batasan teknologi dan ruang lingkup pengujian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1.5: Manfaat penelitian bagi empat pihak terkait.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2.1 &amp; Tabel 4: Jadwal pelaksanaan penelitian Juli - November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2.2: Kerangka DSR Hevner et al. (2004) menghubungkan Environment, IS Research, dan Knowledge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2.3: Tiga domain studi literatur ilmiah.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2.4: 5 fase Waterfall SDLC Pfleeger &amp; Atlee (2010).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2.5 &amp; Gambar 6: Alur tahapan penelitian terintegrasi DSR dan Waterfall SDLC.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2.7: Rincian lengkap 22 Use Case yang terdistribusi ke 3 aktor utama.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3.1 &amp; 1.6.4: Arsitektur Front-End dan alasan pemilihannya.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3.1 &amp; 1.6.4: Arsitektur Back-End dan alasan pemilihannya.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3.1, 3.2, &amp; 1.6.4: Basis Data dan alasan pemilihannya.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3.1 &amp; 1.6.4: Layanan pihak ketiga dan alasan pemilihannya.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3.2.1 &amp; Gambar 9a: ERD 16 tabel relasional.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3.2.2 &amp; Tabel 5: Enam tipe Enum Prisma 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3.2.2 &amp; Tabel 6: Struktur kamus data tabel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3.2.2 &amp; Tabel 11 &amp; 16: Struktur tabel venues dan bookings.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3.5.1: Formulasi matematis kueri relasional irisan waktu.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3.5.1 &amp; Tabel 22: Seluruh 7 skenario uji bentrok jadwal terbukti 100%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3.5, Subbab 4.1 &amp; Tabel 22-27: Pengujian fungsionalitas Black Box Testing pada 6 modul utama sistem terbukti 100%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3.4: Showcase antarmuka pengguna sisi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3.4: Showcase antarmuka mitra dan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4.1: Kesimpulan menjawab rumusan masalah 1 dan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Subbab 4.2: Lima saran rekomendasi pengembangan masa depan.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Sekian presentasi dari saya. Terima kasih kepada Dewan Penguji. Sesi tanya jawab dipersilakan.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536538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566928"/>
            <a:ext cx="45720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</a:defRPr>
            </a:pPr>
            <a:r>
              <a:t>Sistem informasi</a:t>
            </a:r>
          </a:p>
          <a:p>
            <a:pPr>
              <a:defRPr sz="1100">
                <a:solidFill>
                  <a:srgbClr val="4B5563"/>
                </a:solidFill>
                <a:latin typeface="Arial"/>
              </a:defRPr>
            </a:pPr>
            <a:r>
              <a:t>Universitas Hasanuddin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11827"/>
                </a:solidFill>
                <a:latin typeface="Arial Black"/>
              </a:defRPr>
            </a:pPr>
            <a:r>
              <a:t>SEMINAR 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4577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500" b="1">
                <a:solidFill>
                  <a:srgbClr val="111827"/>
                </a:solidFill>
                <a:latin typeface="Arial Black"/>
              </a:defRPr>
            </a:pPr>
            <a:r>
              <a:t>RANCANG BANGUN SISTEM INFORMASI RESERVASI DAN FASILITAS OLAHRAGA MULTI-TENANT BERBASIS WEB (STUDI KASUS: PLATFORM FIELDMAX)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457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 Black"/>
              </a:defRPr>
            </a:pPr>
            <a:r>
              <a:t>OLEH:</a:t>
            </a:r>
          </a:p>
          <a:p>
            <a:pPr algn="ctr">
              <a:spcBef>
                <a:spcPts val="300"/>
              </a:spcBef>
              <a:defRPr sz="1700" b="1">
                <a:solidFill>
                  <a:srgbClr val="111827"/>
                </a:solidFill>
                <a:latin typeface="Arial"/>
              </a:defRPr>
            </a:pPr>
            <a:r>
              <a:t>Aflah Alifu Na Mappatajang Rahman</a:t>
            </a:r>
          </a:p>
          <a:p>
            <a:pPr algn="ctr">
              <a:defRPr sz="1400" b="1">
                <a:solidFill>
                  <a:srgbClr val="4B5563"/>
                </a:solidFill>
                <a:latin typeface="Arial"/>
              </a:defRPr>
            </a:pPr>
            <a:r>
              <a:t>H071211012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Arial"/>
              </a:defRPr>
            </a:pPr>
            <a:r>
              <a:t>Dosen Pembimbing</a:t>
            </a:r>
          </a:p>
          <a:p>
            <a:pPr>
              <a:defRPr sz="1100">
                <a:solidFill>
                  <a:srgbClr val="4B5563"/>
                </a:solidFill>
                <a:latin typeface="Arial"/>
              </a:defRPr>
            </a:pPr>
            <a:r>
              <a:t>Dr. Eng Supri Bin Hj Amir, S.Si., M.Eng.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30352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Arial"/>
              </a:defRPr>
            </a:pPr>
            <a:r>
              <a:t>Penguji</a:t>
            </a:r>
          </a:p>
          <a:p>
            <a:pPr>
              <a:defRPr sz="1100">
                <a:solidFill>
                  <a:srgbClr val="4B5563"/>
                </a:solidFill>
                <a:latin typeface="Arial"/>
              </a:defRPr>
            </a:pPr>
            <a:r>
              <a:t>Edy Saputra Rusdi, S.Si., M.Si.</a:t>
            </a:r>
            <a:br/>
            <a:r>
              <a:t>Dr. Hendra, S.Si., M.Kom.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 •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Latar Belakang: Tren &amp; Kebutuhan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  <a:latin typeface="Arial"/>
              </a:defRPr>
            </a:pPr>
            <a:r>
              <a:t>Lonjakan kesadaran gaya hidup sehat mendorong peningkatan pesat aktivitas olahraga kelompok (futsal, bulu tangkis, bola basket, dan mini soccer) di perkotaan.</a:t>
            </a:r>
          </a:p>
          <a:p>
            <a:pPr>
              <a:spcBef>
                <a:spcPts val="3200"/>
              </a:spcBef>
              <a:defRPr sz="2200">
                <a:solidFill>
                  <a:srgbClr val="111827"/>
                </a:solidFill>
                <a:latin typeface="Arial"/>
              </a:defRPr>
            </a:pPr>
            <a:r>
              <a:t>Namun, mayoritas sistem yang ada saat ini bersifat terfragmentasi pada satu sarana saja (single-venue), sehingga calon penyewa kesulitan mengeksplorasi perbandingan fasilitas, tarif, dan ketersediaan jadwal secara terpusat.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 •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Latar Belakang: 4 Masalah Sistem Konvensional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4B5563"/>
                </a:solidFill>
                <a:latin typeface="Arial"/>
              </a:defRPr>
            </a:pPr>
            <a:r>
              <a:rPr dirty="0"/>
              <a:t>Proses </a:t>
            </a:r>
            <a:r>
              <a:rPr dirty="0" err="1"/>
              <a:t>bisnis</a:t>
            </a:r>
            <a:r>
              <a:rPr dirty="0"/>
              <a:t> </a:t>
            </a:r>
            <a:r>
              <a:rPr dirty="0" err="1"/>
              <a:t>konvensional</a:t>
            </a:r>
            <a:r>
              <a:rPr dirty="0"/>
              <a:t> via </a:t>
            </a:r>
            <a:r>
              <a:rPr dirty="0" err="1"/>
              <a:t>buku</a:t>
            </a:r>
            <a:r>
              <a:rPr dirty="0"/>
              <a:t> agenda &amp; WhatsApp </a:t>
            </a:r>
            <a:r>
              <a:rPr dirty="0" err="1"/>
              <a:t>memiliki</a:t>
            </a:r>
            <a:r>
              <a:rPr dirty="0"/>
              <a:t> 4 </a:t>
            </a:r>
            <a:r>
              <a:rPr dirty="0" err="1"/>
              <a:t>masalah</a:t>
            </a:r>
            <a:r>
              <a:rPr dirty="0"/>
              <a:t> </a:t>
            </a:r>
            <a:r>
              <a:rPr dirty="0" err="1"/>
              <a:t>krusial</a:t>
            </a:r>
            <a:r>
              <a:rPr dirty="0"/>
              <a:t> (</a:t>
            </a:r>
            <a:r>
              <a:rPr dirty="0" err="1"/>
              <a:t>Nadjamuddin</a:t>
            </a:r>
            <a:r>
              <a:rPr dirty="0"/>
              <a:t> 2023, Hafiz 2023):</a:t>
            </a:r>
          </a:p>
          <a:p>
            <a:pPr>
              <a:spcBef>
                <a:spcPts val="15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Bentrok</a:t>
            </a:r>
            <a:r>
              <a:rPr dirty="0"/>
              <a:t> Jadwal (Double Booking): </a:t>
            </a:r>
            <a:r>
              <a:rPr dirty="0" err="1"/>
              <a:t>Ketiadaan</a:t>
            </a:r>
            <a:r>
              <a:rPr dirty="0"/>
              <a:t> </a:t>
            </a:r>
            <a:r>
              <a:rPr dirty="0" err="1"/>
              <a:t>kendali</a:t>
            </a:r>
            <a:r>
              <a:rPr dirty="0"/>
              <a:t> </a:t>
            </a:r>
            <a:r>
              <a:rPr dirty="0" err="1"/>
              <a:t>konkurensi</a:t>
            </a:r>
            <a:r>
              <a:rPr dirty="0"/>
              <a:t> (concurrency control) </a:t>
            </a:r>
            <a:r>
              <a:rPr dirty="0" err="1"/>
              <a:t>memicu</a:t>
            </a:r>
            <a:r>
              <a:rPr dirty="0"/>
              <a:t> </a:t>
            </a:r>
            <a:r>
              <a:rPr dirty="0" err="1"/>
              <a:t>jadwal</a:t>
            </a:r>
            <a:r>
              <a:rPr dirty="0"/>
              <a:t> </a:t>
            </a:r>
            <a:r>
              <a:rPr dirty="0" err="1"/>
              <a:t>ganda</a:t>
            </a:r>
            <a:r>
              <a:rPr dirty="0"/>
              <a:t> </a:t>
            </a:r>
            <a:r>
              <a:rPr dirty="0" err="1"/>
              <a:t>saat</a:t>
            </a:r>
            <a:r>
              <a:rPr dirty="0"/>
              <a:t> jam </a:t>
            </a:r>
            <a:r>
              <a:rPr dirty="0" err="1"/>
              <a:t>sibuk</a:t>
            </a:r>
            <a:r>
              <a:rPr dirty="0"/>
              <a:t>.</a:t>
            </a:r>
          </a:p>
          <a:p>
            <a:pPr>
              <a:spcBef>
                <a:spcPts val="15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Manipulasi</a:t>
            </a:r>
            <a:r>
              <a:rPr dirty="0"/>
              <a:t> Struk Transfer: </a:t>
            </a:r>
            <a:r>
              <a:rPr dirty="0" err="1"/>
              <a:t>Verifikasi</a:t>
            </a:r>
            <a:r>
              <a:rPr dirty="0"/>
              <a:t> transfer manual </a:t>
            </a:r>
            <a:r>
              <a:rPr dirty="0" err="1"/>
              <a:t>lambat</a:t>
            </a:r>
            <a:r>
              <a:rPr dirty="0"/>
              <a:t> dan </a:t>
            </a:r>
            <a:r>
              <a:rPr dirty="0" err="1"/>
              <a:t>rentan</a:t>
            </a:r>
            <a:r>
              <a:rPr dirty="0"/>
              <a:t> </a:t>
            </a:r>
            <a:r>
              <a:rPr dirty="0" err="1"/>
              <a:t>terhadap</a:t>
            </a:r>
            <a:r>
              <a:rPr dirty="0"/>
              <a:t> </a:t>
            </a:r>
            <a:r>
              <a:rPr dirty="0" err="1"/>
              <a:t>pemalsuan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 transfer </a:t>
            </a:r>
            <a:r>
              <a:rPr dirty="0" err="1"/>
              <a:t>fiktif</a:t>
            </a:r>
            <a:r>
              <a:rPr dirty="0"/>
              <a:t>.</a:t>
            </a:r>
          </a:p>
          <a:p>
            <a:pPr>
              <a:spcBef>
                <a:spcPts val="15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Ketiadaan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Real-Time: Calon </a:t>
            </a:r>
            <a:r>
              <a:rPr dirty="0" err="1"/>
              <a:t>penyewa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menunggu</a:t>
            </a:r>
            <a:r>
              <a:rPr dirty="0"/>
              <a:t> </a:t>
            </a:r>
            <a:r>
              <a:rPr dirty="0" err="1"/>
              <a:t>konfirmasi</a:t>
            </a:r>
            <a:r>
              <a:rPr dirty="0"/>
              <a:t> </a:t>
            </a:r>
            <a:r>
              <a:rPr dirty="0" err="1"/>
              <a:t>berulang</a:t>
            </a:r>
            <a:r>
              <a:rPr dirty="0"/>
              <a:t> kali </a:t>
            </a:r>
            <a:r>
              <a:rPr dirty="0" err="1"/>
              <a:t>dari</a:t>
            </a:r>
            <a:r>
              <a:rPr dirty="0"/>
              <a:t> admin </a:t>
            </a:r>
            <a:r>
              <a:rPr dirty="0" err="1"/>
              <a:t>pengelola</a:t>
            </a:r>
            <a:r>
              <a:rPr dirty="0"/>
              <a:t>.</a:t>
            </a:r>
          </a:p>
          <a:p>
            <a:pPr>
              <a:spcBef>
                <a:spcPts val="15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Inefisiensi</a:t>
            </a:r>
            <a:r>
              <a:rPr dirty="0"/>
              <a:t> </a:t>
            </a:r>
            <a:r>
              <a:rPr dirty="0" err="1"/>
              <a:t>Rekapitulasi</a:t>
            </a:r>
            <a:r>
              <a:rPr dirty="0"/>
              <a:t> </a:t>
            </a:r>
            <a:r>
              <a:rPr dirty="0" err="1"/>
              <a:t>Finansial</a:t>
            </a:r>
            <a:r>
              <a:rPr dirty="0"/>
              <a:t>: Mitra </a:t>
            </a:r>
            <a:r>
              <a:rPr dirty="0" err="1"/>
              <a:t>pemilik</a:t>
            </a:r>
            <a:r>
              <a:rPr dirty="0"/>
              <a:t> </a:t>
            </a:r>
            <a:r>
              <a:rPr dirty="0" err="1"/>
              <a:t>sarana</a:t>
            </a:r>
            <a:r>
              <a:rPr dirty="0"/>
              <a:t> (Renter) </a:t>
            </a:r>
            <a:r>
              <a:rPr dirty="0" err="1"/>
              <a:t>kesulitan</a:t>
            </a:r>
            <a:r>
              <a:rPr dirty="0"/>
              <a:t> </a:t>
            </a:r>
            <a:r>
              <a:rPr dirty="0" err="1"/>
              <a:t>merekapitulasi</a:t>
            </a:r>
            <a:r>
              <a:rPr dirty="0"/>
              <a:t> </a:t>
            </a:r>
            <a:r>
              <a:rPr dirty="0" err="1"/>
              <a:t>omzet</a:t>
            </a:r>
            <a:r>
              <a:rPr dirty="0"/>
              <a:t> dan </a:t>
            </a:r>
            <a:r>
              <a:rPr dirty="0" err="1"/>
              <a:t>riwayat</a:t>
            </a:r>
            <a:r>
              <a:rPr dirty="0"/>
              <a:t> </a:t>
            </a:r>
            <a:r>
              <a:rPr dirty="0" err="1"/>
              <a:t>sewa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 •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Rumusan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Bagaimana</a:t>
            </a:r>
            <a:r>
              <a:rPr dirty="0"/>
              <a:t> </a:t>
            </a:r>
            <a:r>
              <a:rPr dirty="0" err="1"/>
              <a:t>merancang</a:t>
            </a:r>
            <a:r>
              <a:rPr dirty="0"/>
              <a:t> dan </a:t>
            </a:r>
            <a:r>
              <a:rPr dirty="0" err="1"/>
              <a:t>membangun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reservasi</a:t>
            </a:r>
            <a:r>
              <a:rPr dirty="0"/>
              <a:t> dan </a:t>
            </a:r>
            <a:r>
              <a:rPr dirty="0" err="1"/>
              <a:t>fasilitas</a:t>
            </a:r>
            <a:r>
              <a:rPr dirty="0"/>
              <a:t> </a:t>
            </a:r>
            <a:r>
              <a:rPr dirty="0" err="1"/>
              <a:t>olahraga</a:t>
            </a:r>
            <a:r>
              <a:rPr dirty="0"/>
              <a:t> multi-tenant </a:t>
            </a:r>
            <a:r>
              <a:rPr dirty="0" err="1"/>
              <a:t>berbasis</a:t>
            </a:r>
            <a:r>
              <a:rPr dirty="0"/>
              <a:t> web (</a:t>
            </a:r>
            <a:r>
              <a:rPr dirty="0" err="1"/>
              <a:t>FieldMax</a:t>
            </a:r>
            <a:r>
              <a:rPr dirty="0"/>
              <a:t>) yang </a:t>
            </a:r>
            <a:r>
              <a:rPr dirty="0" err="1"/>
              <a:t>mampu</a:t>
            </a:r>
            <a:r>
              <a:rPr dirty="0"/>
              <a:t> </a:t>
            </a:r>
            <a:r>
              <a:rPr dirty="0" err="1"/>
              <a:t>mengotomatisasi</a:t>
            </a:r>
            <a:r>
              <a:rPr dirty="0"/>
              <a:t> proses </a:t>
            </a:r>
            <a:r>
              <a:rPr dirty="0" err="1"/>
              <a:t>bisnis</a:t>
            </a:r>
            <a:r>
              <a:rPr dirty="0"/>
              <a:t> dan </a:t>
            </a:r>
            <a:r>
              <a:rPr dirty="0" err="1"/>
              <a:t>menyediakan</a:t>
            </a:r>
            <a:r>
              <a:rPr dirty="0"/>
              <a:t> </a:t>
            </a:r>
            <a:r>
              <a:rPr dirty="0" err="1"/>
              <a:t>layanan</a:t>
            </a:r>
            <a:r>
              <a:rPr dirty="0"/>
              <a:t> </a:t>
            </a:r>
            <a:r>
              <a:rPr dirty="0" err="1"/>
              <a:t>terpadu</a:t>
            </a:r>
            <a:r>
              <a:rPr dirty="0"/>
              <a:t>?</a:t>
            </a:r>
          </a:p>
          <a:p>
            <a:pPr>
              <a:spcBef>
                <a:spcPts val="3200"/>
              </a:spcBef>
              <a:defRPr sz="2200" b="1">
                <a:solidFill>
                  <a:srgbClr val="111827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Bagaimana</a:t>
            </a:r>
            <a:r>
              <a:rPr dirty="0"/>
              <a:t> </a:t>
            </a:r>
            <a:r>
              <a:rPr dirty="0" err="1"/>
              <a:t>menguji</a:t>
            </a:r>
            <a:r>
              <a:rPr dirty="0"/>
              <a:t> dan </a:t>
            </a:r>
            <a:r>
              <a:rPr dirty="0" err="1"/>
              <a:t>membuktikan</a:t>
            </a:r>
            <a:r>
              <a:rPr dirty="0"/>
              <a:t> </a:t>
            </a:r>
            <a:r>
              <a:rPr dirty="0" err="1"/>
              <a:t>keandalan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FieldMax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</a:t>
            </a:r>
            <a:r>
              <a:rPr dirty="0" err="1"/>
              <a:t>metode</a:t>
            </a:r>
            <a:r>
              <a:rPr dirty="0"/>
              <a:t> Black Box Testing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mengeliminasi</a:t>
            </a:r>
            <a:r>
              <a:rPr dirty="0"/>
              <a:t> </a:t>
            </a:r>
            <a:r>
              <a:rPr dirty="0" err="1"/>
              <a:t>terjadinya</a:t>
            </a:r>
            <a:r>
              <a:rPr dirty="0"/>
              <a:t> </a:t>
            </a:r>
            <a:r>
              <a:rPr dirty="0" err="1"/>
              <a:t>bentrok</a:t>
            </a:r>
            <a:r>
              <a:rPr dirty="0"/>
              <a:t> </a:t>
            </a:r>
            <a:r>
              <a:rPr dirty="0" err="1"/>
              <a:t>jadwal</a:t>
            </a:r>
            <a:r>
              <a:rPr dirty="0"/>
              <a:t> (double booking)?</a:t>
            </a:r>
            <a:br>
              <a:rPr lang="en-US" dirty="0"/>
            </a:br>
            <a:r>
              <a:rPr lang="en-US" dirty="0"/>
              <a:t>Bag</a:t>
            </a:r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 •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Analisis Masalah Sistem Manual vs Solusi</a:t>
            </a:r>
          </a:p>
        </p:txBody>
      </p:sp>
      <p:pic>
        <p:nvPicPr>
          <p:cNvPr id="5" name="Picture 4" descr="gambar-analisis-masalah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08760"/>
            <a:ext cx="9997135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 •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Tujuan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Merancang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mengimplementasikan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platform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FieldMax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Full-Stack TypeScript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Monorepo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guna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mendigitalisasi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sarana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olahraga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User, Renter, dan Admin.</a:t>
            </a:r>
          </a:p>
          <a:p>
            <a:pPr>
              <a:spcBef>
                <a:spcPts val="3200"/>
              </a:spcBef>
              <a:defRPr sz="2200" b="1">
                <a:solidFill>
                  <a:srgbClr val="111827"/>
                </a:solidFill>
                <a:latin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Menguji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membuktikan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empiris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keandalan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Black Box Testing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mencegah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mengeliminasi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terjadinya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pemesanan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ganda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(double booking).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 •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Batasan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Arsitektur</a:t>
            </a:r>
            <a:r>
              <a:rPr dirty="0"/>
              <a:t> Web </a:t>
            </a:r>
            <a:r>
              <a:rPr dirty="0" err="1"/>
              <a:t>Responsif</a:t>
            </a:r>
            <a:r>
              <a:rPr dirty="0"/>
              <a:t>: Next.js 16 (App Router) pada Front End dan Express.js 5 pada Back End </a:t>
            </a:r>
            <a:r>
              <a:rPr dirty="0" err="1"/>
              <a:t>berbasis</a:t>
            </a:r>
            <a:r>
              <a:rPr dirty="0"/>
              <a:t> TypeScript.</a:t>
            </a:r>
          </a:p>
          <a:p>
            <a:pPr>
              <a:spcBef>
                <a:spcPts val="2000"/>
              </a:spcBef>
              <a:defRPr sz="2000">
                <a:solidFill>
                  <a:srgbClr val="111827"/>
                </a:solidFill>
                <a:latin typeface="Arial"/>
              </a:defRPr>
            </a:pPr>
            <a:r>
              <a:rPr dirty="0"/>
              <a:t>2. Basis Data &amp; </a:t>
            </a:r>
            <a:r>
              <a:rPr dirty="0" err="1"/>
              <a:t>Transaksi</a:t>
            </a:r>
            <a:r>
              <a:rPr dirty="0"/>
              <a:t>: PostgreSQL 16 </a:t>
            </a:r>
            <a:r>
              <a:rPr dirty="0" err="1"/>
              <a:t>dengan</a:t>
            </a:r>
            <a:r>
              <a:rPr dirty="0"/>
              <a:t> Prisma ORM, </a:t>
            </a:r>
            <a:r>
              <a:rPr dirty="0" err="1"/>
              <a:t>serta</a:t>
            </a:r>
            <a:r>
              <a:rPr dirty="0"/>
              <a:t> </a:t>
            </a:r>
            <a:r>
              <a:rPr dirty="0" err="1"/>
              <a:t>pembayaran</a:t>
            </a:r>
            <a:r>
              <a:rPr dirty="0"/>
              <a:t> digital </a:t>
            </a:r>
            <a:r>
              <a:rPr dirty="0" err="1"/>
              <a:t>Midtrans</a:t>
            </a:r>
            <a:r>
              <a:rPr dirty="0"/>
              <a:t> Snap (QRIS, VA, e-Wallet).</a:t>
            </a:r>
          </a:p>
          <a:p>
            <a:pPr>
              <a:spcBef>
                <a:spcPts val="2000"/>
              </a:spcBef>
              <a:defRPr sz="2000">
                <a:solidFill>
                  <a:srgbClr val="111827"/>
                </a:solidFill>
                <a:latin typeface="Arial"/>
              </a:defRPr>
            </a:pPr>
            <a:r>
              <a:rPr dirty="0"/>
              <a:t>3. </a:t>
            </a:r>
            <a:r>
              <a:rPr dirty="0" err="1"/>
              <a:t>Layanan</a:t>
            </a:r>
            <a:r>
              <a:rPr dirty="0"/>
              <a:t> </a:t>
            </a:r>
            <a:r>
              <a:rPr dirty="0" err="1"/>
              <a:t>Pendukung</a:t>
            </a:r>
            <a:r>
              <a:rPr dirty="0"/>
              <a:t>: </a:t>
            </a:r>
            <a:r>
              <a:rPr dirty="0" err="1"/>
              <a:t>ImageKit</a:t>
            </a:r>
            <a:r>
              <a:rPr dirty="0"/>
              <a:t> CDN (media </a:t>
            </a:r>
            <a:r>
              <a:rPr dirty="0" err="1"/>
              <a:t>foto</a:t>
            </a:r>
            <a:r>
              <a:rPr dirty="0"/>
              <a:t>), </a:t>
            </a:r>
            <a:r>
              <a:rPr dirty="0" err="1"/>
              <a:t>Nodemailer</a:t>
            </a:r>
            <a:r>
              <a:rPr dirty="0"/>
              <a:t> SMTP (token email), dan </a:t>
            </a:r>
            <a:r>
              <a:rPr dirty="0" err="1"/>
              <a:t>otentikasi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</a:t>
            </a:r>
            <a:r>
              <a:rPr dirty="0" err="1"/>
              <a:t>sesi</a:t>
            </a:r>
            <a:r>
              <a:rPr dirty="0"/>
              <a:t> di database.</a:t>
            </a:r>
          </a:p>
          <a:p>
            <a:pPr>
              <a:spcBef>
                <a:spcPts val="2000"/>
              </a:spcBef>
              <a:defRPr sz="2000">
                <a:solidFill>
                  <a:srgbClr val="111827"/>
                </a:solidFill>
                <a:latin typeface="Arial"/>
              </a:defRPr>
            </a:pPr>
            <a:r>
              <a:rPr dirty="0"/>
              <a:t>4. Ruang </a:t>
            </a:r>
            <a:r>
              <a:rPr dirty="0" err="1"/>
              <a:t>Lingkup</a:t>
            </a:r>
            <a:r>
              <a:rPr dirty="0"/>
              <a:t> Uji: </a:t>
            </a:r>
            <a:r>
              <a:rPr dirty="0" err="1"/>
              <a:t>Fungsionalitas</a:t>
            </a:r>
            <a:r>
              <a:rPr dirty="0"/>
              <a:t> Black Box Testing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verifikasi</a:t>
            </a:r>
            <a:r>
              <a:rPr dirty="0"/>
              <a:t> proses </a:t>
            </a:r>
            <a:r>
              <a:rPr dirty="0" err="1"/>
              <a:t>bisnis</a:t>
            </a:r>
            <a:r>
              <a:rPr dirty="0"/>
              <a:t> dan </a:t>
            </a:r>
            <a:r>
              <a:rPr dirty="0" err="1"/>
              <a:t>eliminasi</a:t>
            </a:r>
            <a:r>
              <a:rPr dirty="0"/>
              <a:t> double booking.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 •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Manfaat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11827"/>
                </a:solidFill>
                <a:latin typeface="Arial"/>
              </a:defRPr>
            </a:pPr>
            <a:r>
              <a:t>1. Bagi Pelanggan (User): Kepastian ketersediaan jadwal real-time, eksplorasi multi-cabor, dan transaksi digital mandiri 24/7.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2. Bagi Pemilik Sarana (Renter): Otonomi manajemen jadwal &amp; tarif per jam, zero double booking, serta analitik omzet otomatis.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3. Bagi Administrator (Admin): Kontrol terpusat moderasi legalitas venue/lapangan serta penanganan tiket pengaduan.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4. Bagi Teoretis &amp; Akademik: Rujukan penerapan DSR dan Waterfall SDLC pada sistem informasi multi-tenant modern.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 •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Waktu dan Lokasi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827"/>
                </a:solidFill>
                <a:latin typeface="Arial"/>
              </a:defRPr>
            </a:pPr>
            <a:r>
              <a:t>Penelitian dilaksanakan pada bulan Juli 2025 sampai November 2025 di Kota Makassar, Sulawesi Selatan (Tabel 4 Skripsi).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7744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Tahapan Penelitian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Juli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Agustus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September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Oktober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November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Studi Literatur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Analisis Kebutuhan (Requirements)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Desain Sistem (Design)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Implementasi Sistem (Implementation)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Pengujian Sistem (Testing)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Pemeliharaan &amp; Dokumentasi (Maintenance)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 •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Kerangka Design Science Research (DSR)</a:t>
            </a:r>
          </a:p>
        </p:txBody>
      </p:sp>
      <p:pic>
        <p:nvPicPr>
          <p:cNvPr id="5" name="Picture 4" descr="gambar-dsr-fieldmax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08760"/>
            <a:ext cx="9997135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 •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Metode Pengumpulan Data: Studi Literatur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4B5563"/>
                </a:solidFill>
                <a:latin typeface="Arial"/>
              </a:defRPr>
            </a:pPr>
            <a:r>
              <a:t>Pengumpulan data dilakukan secara komprehensif melalui Studi Literatur (Literature Review):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1. Jurnal Ilmiah Terakreditasi: Mengkaji isu konkurensi, eliminasi double booking, arsitektur multi-tenant, dan integrasi payment gateway.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2. Buku Teks RPL &amp; Sistem Informasi: Teori pemodelan UML (Pressman, 2010), Waterfall SDLC (Pfleeger &amp; Atlee, 2010), dan kerangka DSR (Hevner et al., 2004).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3. Dokumentasi Teknis Resmi: Spesifikasi Next.js 16 App Router, Express.js 5, PostgreSQL 16, Prisma ORM, Midtrans API, dan ImageKit SDK.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 •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Metode Pengembangan: Waterfall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11827"/>
                </a:solidFill>
                <a:latin typeface="Arial"/>
              </a:defRPr>
            </a:pPr>
            <a:r>
              <a:t>1. Requirements: Analisis 10 kendala sistem manual dan elisitasi 22 Use Case fungsional.</a:t>
            </a:r>
          </a:p>
          <a:p>
            <a:pPr>
              <a:spcBef>
                <a:spcPts val="16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2. Design: Perancangan Use Case, Activity Diagram, antarmuka Figma, dan 16 relasi ERD.</a:t>
            </a:r>
          </a:p>
          <a:p>
            <a:pPr>
              <a:spcBef>
                <a:spcPts val="16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3. Implementation: Pengkodean Next.js 16, Express.js 5, Prisma ORM, &amp; PostgreSQL 16.</a:t>
            </a:r>
          </a:p>
          <a:p>
            <a:pPr>
              <a:spcBef>
                <a:spcPts val="16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4. Testing: Pengujian Black Box 76 kasus uji &amp; 7 skenario matematis bentrok jadwal.</a:t>
            </a:r>
          </a:p>
          <a:p>
            <a:pPr>
              <a:spcBef>
                <a:spcPts val="16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5. Maintenance: Optimasi performa kueri basis data dan pemeliharaan server berkala.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 • METODE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Tahapan Penelitian (Alur Sistematis)</a:t>
            </a:r>
          </a:p>
        </p:txBody>
      </p:sp>
      <p:pic>
        <p:nvPicPr>
          <p:cNvPr id="5" name="Picture 4" descr="gambar-4-alur-penelitian-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08760"/>
            <a:ext cx="1913308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49039" y="155448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827"/>
                </a:solidFill>
                <a:latin typeface="Arial"/>
              </a:defRPr>
            </a:pPr>
            <a:r>
              <a:t>1. Mulai &amp; Studi Literatur: Identifikasi masalah riil reservasi &amp; landasan teori DSR Hevner.</a:t>
            </a:r>
          </a:p>
          <a:p>
            <a:pPr>
              <a:spcBef>
                <a:spcPts val="1300"/>
              </a:spcBef>
              <a:defRPr sz="1700">
                <a:solidFill>
                  <a:srgbClr val="111827"/>
                </a:solidFill>
                <a:latin typeface="Arial"/>
              </a:defRPr>
            </a:pPr>
            <a:r>
              <a:t>2. Requirements (Analisis): Elisitasi kebutuhan fungsional 3 peran (User, Renter, Admin).</a:t>
            </a:r>
          </a:p>
          <a:p>
            <a:pPr>
              <a:spcBef>
                <a:spcPts val="1300"/>
              </a:spcBef>
              <a:defRPr sz="1700">
                <a:solidFill>
                  <a:srgbClr val="111827"/>
                </a:solidFill>
                <a:latin typeface="Arial"/>
              </a:defRPr>
            </a:pPr>
            <a:r>
              <a:t>3. Design (Perancangan): Pemodelan 22 Use Case, Activity Diagram, Figma UI, &amp; 16 tabel ERD.</a:t>
            </a:r>
          </a:p>
          <a:p>
            <a:pPr>
              <a:spcBef>
                <a:spcPts val="1300"/>
              </a:spcBef>
              <a:defRPr sz="1700">
                <a:solidFill>
                  <a:srgbClr val="111827"/>
                </a:solidFill>
                <a:latin typeface="Arial"/>
              </a:defRPr>
            </a:pPr>
            <a:r>
              <a:t>4. Implementation (Pengkodean): Next.js 16 App Router, Express.js 5, Prisma ORM, &amp; PostgreSQL.</a:t>
            </a:r>
          </a:p>
          <a:p>
            <a:pPr>
              <a:spcBef>
                <a:spcPts val="1300"/>
              </a:spcBef>
              <a:defRPr sz="1700">
                <a:solidFill>
                  <a:srgbClr val="111827"/>
                </a:solidFill>
                <a:latin typeface="Arial"/>
              </a:defRPr>
            </a:pPr>
            <a:r>
              <a:t>5. Testing (Evaluasi Black Box): Uji 76 skenario Black Box &amp; 7 formula irisan waktu bentrok jadwal.</a:t>
            </a:r>
          </a:p>
          <a:p>
            <a:pPr>
              <a:spcBef>
                <a:spcPts val="1300"/>
              </a:spcBef>
              <a:defRPr sz="1700">
                <a:solidFill>
                  <a:srgbClr val="111827"/>
                </a:solidFill>
                <a:latin typeface="Arial"/>
              </a:defRPr>
            </a:pPr>
            <a:r>
              <a:t>6. Hasil Penelitian &amp; Selesai: Dokumentasi naskah komprehensif, publikasi, dan deployment.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 • PERANCANGAN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Perancangan Sistem: 22 Use Cases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375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2436" y="2156857"/>
            <a:ext cx="2578608" cy="25442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 Black"/>
              </a:defRPr>
            </a:pPr>
            <a:r>
              <a:rPr dirty="0"/>
              <a:t>1. User / </a:t>
            </a:r>
            <a:r>
              <a:rPr dirty="0" err="1"/>
              <a:t>Pelanggan</a:t>
            </a:r>
            <a:r>
              <a:rPr dirty="0"/>
              <a:t> (8)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1. Daftar dan Login Akun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2. Cari dan Filter Lapangan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3. </a:t>
            </a:r>
            <a:r>
              <a:rPr dirty="0" err="1"/>
              <a:t>Lihat</a:t>
            </a:r>
            <a:r>
              <a:rPr dirty="0"/>
              <a:t> Detail Venue &amp; Lapangan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4. </a:t>
            </a:r>
            <a:r>
              <a:rPr dirty="0" err="1"/>
              <a:t>Reservasi</a:t>
            </a:r>
            <a:r>
              <a:rPr dirty="0"/>
              <a:t> Slot Jadwal Real-Time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5. Bayar via </a:t>
            </a:r>
            <a:r>
              <a:rPr dirty="0" err="1"/>
              <a:t>Midtrans</a:t>
            </a:r>
            <a:r>
              <a:rPr dirty="0"/>
              <a:t> Snap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6. </a:t>
            </a:r>
            <a:r>
              <a:rPr dirty="0" err="1"/>
              <a:t>Lihat</a:t>
            </a:r>
            <a:r>
              <a:rPr dirty="0"/>
              <a:t> Riwayat </a:t>
            </a:r>
            <a:r>
              <a:rPr dirty="0" err="1"/>
              <a:t>Pemesanan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7. Beri Rating </a:t>
            </a:r>
            <a:r>
              <a:rPr dirty="0" err="1"/>
              <a:t>Ulasan</a:t>
            </a:r>
            <a:r>
              <a:rPr dirty="0"/>
              <a:t> Lapangan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8. </a:t>
            </a:r>
            <a:r>
              <a:rPr dirty="0" err="1"/>
              <a:t>Buat</a:t>
            </a:r>
            <a:r>
              <a:rPr dirty="0"/>
              <a:t> </a:t>
            </a:r>
            <a:r>
              <a:rPr dirty="0" err="1"/>
              <a:t>Tiket</a:t>
            </a:r>
            <a:r>
              <a:rPr dirty="0"/>
              <a:t> </a:t>
            </a:r>
            <a:r>
              <a:rPr dirty="0" err="1"/>
              <a:t>Pengaduan</a:t>
            </a:r>
            <a:r>
              <a:rPr dirty="0"/>
              <a:t> Kendala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375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25188" y="2156857"/>
            <a:ext cx="2941624" cy="2257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Arial Black"/>
              </a:defRPr>
            </a:pPr>
            <a:r>
              <a:rPr dirty="0"/>
              <a:t>2. Mitra Renter (7)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1. Daftar dan Login Mitra </a:t>
            </a:r>
            <a:r>
              <a:rPr dirty="0" err="1"/>
              <a:t>Bisnis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2. Kelola </a:t>
            </a:r>
            <a:r>
              <a:rPr dirty="0" err="1"/>
              <a:t>Profil</a:t>
            </a:r>
            <a:r>
              <a:rPr dirty="0"/>
              <a:t> Venue &amp; Jam </a:t>
            </a:r>
            <a:r>
              <a:rPr dirty="0" err="1"/>
              <a:t>Operasional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3. Kelola Lapangan &amp; Tarif per Jam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4. </a:t>
            </a:r>
            <a:r>
              <a:rPr dirty="0" err="1"/>
              <a:t>Ajukan</a:t>
            </a:r>
            <a:r>
              <a:rPr dirty="0"/>
              <a:t> Venue &amp; Lapangan </a:t>
            </a:r>
            <a:r>
              <a:rPr dirty="0" err="1"/>
              <a:t>ke</a:t>
            </a:r>
            <a:r>
              <a:rPr dirty="0"/>
              <a:t> Admin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5. Kelola &amp; </a:t>
            </a:r>
            <a:r>
              <a:rPr dirty="0" err="1"/>
              <a:t>Pantau</a:t>
            </a:r>
            <a:r>
              <a:rPr dirty="0"/>
              <a:t> </a:t>
            </a:r>
            <a:r>
              <a:rPr dirty="0" err="1"/>
              <a:t>Pemesanan</a:t>
            </a:r>
            <a:r>
              <a:rPr dirty="0"/>
              <a:t> Masuk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6. </a:t>
            </a:r>
            <a:r>
              <a:rPr dirty="0" err="1"/>
              <a:t>Lihat</a:t>
            </a:r>
            <a:r>
              <a:rPr dirty="0"/>
              <a:t> </a:t>
            </a:r>
            <a:r>
              <a:rPr dirty="0" err="1"/>
              <a:t>Analitik</a:t>
            </a:r>
            <a:r>
              <a:rPr dirty="0"/>
              <a:t> </a:t>
            </a:r>
            <a:r>
              <a:rPr dirty="0" err="1"/>
              <a:t>Grafik</a:t>
            </a:r>
            <a:r>
              <a:rPr dirty="0"/>
              <a:t> </a:t>
            </a:r>
            <a:r>
              <a:rPr dirty="0" err="1"/>
              <a:t>Pendapatan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7. Kirim </a:t>
            </a:r>
            <a:r>
              <a:rPr dirty="0" err="1"/>
              <a:t>Tiket</a:t>
            </a:r>
            <a:r>
              <a:rPr dirty="0"/>
              <a:t> </a:t>
            </a:r>
            <a:r>
              <a:rPr dirty="0" err="1"/>
              <a:t>Pengaduan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828800"/>
            <a:ext cx="33375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4755" y="2156857"/>
            <a:ext cx="2935225" cy="2257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Arial Black"/>
              </a:defRPr>
            </a:pPr>
            <a:r>
              <a:rPr dirty="0"/>
              <a:t>3. Administrator (7)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1. Login Panel </a:t>
            </a:r>
            <a:r>
              <a:rPr dirty="0" err="1"/>
              <a:t>Administrasi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Lihat</a:t>
            </a:r>
            <a:r>
              <a:rPr dirty="0"/>
              <a:t> Dashboard </a:t>
            </a:r>
            <a:r>
              <a:rPr dirty="0" err="1"/>
              <a:t>Statistik</a:t>
            </a:r>
            <a:r>
              <a:rPr dirty="0"/>
              <a:t> </a:t>
            </a:r>
            <a:r>
              <a:rPr dirty="0" err="1"/>
              <a:t>Ekosistem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3. Kelola &amp; </a:t>
            </a:r>
            <a:r>
              <a:rPr dirty="0" err="1"/>
              <a:t>Verifikasi</a:t>
            </a:r>
            <a:r>
              <a:rPr dirty="0"/>
              <a:t> Akun </a:t>
            </a:r>
            <a:r>
              <a:rPr dirty="0" err="1"/>
              <a:t>Pengguna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4. Kelola Master Data Sport Types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5. </a:t>
            </a:r>
            <a:r>
              <a:rPr dirty="0" err="1"/>
              <a:t>Moderasi</a:t>
            </a:r>
            <a:r>
              <a:rPr dirty="0"/>
              <a:t> Venue dan Unit Lapangan</a:t>
            </a:r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6. </a:t>
            </a:r>
            <a:r>
              <a:rPr dirty="0" err="1"/>
              <a:t>Pantau</a:t>
            </a:r>
            <a:r>
              <a:rPr dirty="0"/>
              <a:t> </a:t>
            </a:r>
            <a:r>
              <a:rPr dirty="0" err="1"/>
              <a:t>Pemesanan</a:t>
            </a:r>
            <a:r>
              <a:rPr dirty="0"/>
              <a:t> &amp; </a:t>
            </a:r>
            <a:r>
              <a:rPr dirty="0" err="1"/>
              <a:t>Pembayaran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111827"/>
                </a:solidFill>
                <a:latin typeface="Arial"/>
              </a:defRPr>
            </a:pPr>
            <a:r>
              <a:rPr dirty="0"/>
              <a:t>7. Kelola &amp; </a:t>
            </a:r>
            <a:r>
              <a:rPr dirty="0" err="1"/>
              <a:t>Resolusi</a:t>
            </a:r>
            <a:r>
              <a:rPr dirty="0"/>
              <a:t> </a:t>
            </a:r>
            <a:r>
              <a:rPr dirty="0" err="1"/>
              <a:t>Tiket</a:t>
            </a:r>
            <a:r>
              <a:rPr dirty="0"/>
              <a:t> </a:t>
            </a:r>
            <a:r>
              <a:rPr dirty="0" err="1"/>
              <a:t>Pengaduan</a:t>
            </a:r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Implementasi Front-End &amp; Alasan Pemilihan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 Black"/>
              </a:defRPr>
            </a:pPr>
            <a:r>
              <a:rPr dirty="0"/>
              <a:t>STACK: Next.js 16 (App Router)   •   React 19   •   Tailwind CSS v4   •   </a:t>
            </a:r>
            <a:r>
              <a:rPr dirty="0" err="1"/>
              <a:t>TanStack</a:t>
            </a:r>
            <a:r>
              <a:rPr dirty="0"/>
              <a:t> Query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rPr dirty="0"/>
              <a:t>1. Server-Side Rendering (SSR) &amp; App Router: Mempercepat </a:t>
            </a:r>
            <a:r>
              <a:rPr dirty="0" err="1"/>
              <a:t>waktu</a:t>
            </a:r>
            <a:r>
              <a:rPr dirty="0"/>
              <a:t> render </a:t>
            </a:r>
            <a:r>
              <a:rPr dirty="0" err="1"/>
              <a:t>awal</a:t>
            </a:r>
            <a:r>
              <a:rPr dirty="0"/>
              <a:t> (initial load) </a:t>
            </a:r>
            <a:r>
              <a:rPr dirty="0" err="1"/>
              <a:t>katalog</a:t>
            </a:r>
            <a:r>
              <a:rPr dirty="0"/>
              <a:t> venue, </a:t>
            </a:r>
            <a:r>
              <a:rPr dirty="0" err="1"/>
              <a:t>pemisahan</a:t>
            </a:r>
            <a:r>
              <a:rPr dirty="0"/>
              <a:t> </a:t>
            </a:r>
            <a:r>
              <a:rPr dirty="0" err="1"/>
              <a:t>rute</a:t>
            </a:r>
            <a:r>
              <a:rPr dirty="0"/>
              <a:t> </a:t>
            </a:r>
            <a:r>
              <a:rPr dirty="0" err="1"/>
              <a:t>dinamis</a:t>
            </a:r>
            <a:r>
              <a:rPr dirty="0"/>
              <a:t> modular, dan </a:t>
            </a:r>
            <a:r>
              <a:rPr dirty="0" err="1"/>
              <a:t>performa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</a:t>
            </a:r>
            <a:r>
              <a:rPr dirty="0" err="1"/>
              <a:t>ramah</a:t>
            </a:r>
            <a:r>
              <a:rPr dirty="0"/>
              <a:t> SEO.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rPr dirty="0"/>
              <a:t>2. Tailwind CSS v4 &amp; </a:t>
            </a:r>
            <a:r>
              <a:rPr dirty="0" err="1"/>
              <a:t>shadcn</a:t>
            </a:r>
            <a:r>
              <a:rPr dirty="0"/>
              <a:t>/</a:t>
            </a:r>
            <a:r>
              <a:rPr dirty="0" err="1"/>
              <a:t>ui</a:t>
            </a:r>
            <a:r>
              <a:rPr dirty="0"/>
              <a:t>: </a:t>
            </a:r>
            <a:r>
              <a:rPr dirty="0" err="1"/>
              <a:t>Menjamin</a:t>
            </a:r>
            <a:r>
              <a:rPr dirty="0"/>
              <a:t> </a:t>
            </a:r>
            <a:r>
              <a:rPr dirty="0" err="1"/>
              <a:t>konsistensi</a:t>
            </a:r>
            <a:r>
              <a:rPr dirty="0"/>
              <a:t> visual modern, </a:t>
            </a:r>
            <a:r>
              <a:rPr dirty="0" err="1"/>
              <a:t>komponen</a:t>
            </a:r>
            <a:r>
              <a:rPr dirty="0"/>
              <a:t> </a:t>
            </a:r>
            <a:r>
              <a:rPr dirty="0" err="1"/>
              <a:t>antarmuka</a:t>
            </a:r>
            <a:r>
              <a:rPr dirty="0"/>
              <a:t> yang </a:t>
            </a:r>
            <a:r>
              <a:rPr dirty="0" err="1"/>
              <a:t>aksesibel</a:t>
            </a:r>
            <a:r>
              <a:rPr dirty="0"/>
              <a:t>, </a:t>
            </a:r>
            <a:r>
              <a:rPr dirty="0" err="1"/>
              <a:t>serta</a:t>
            </a:r>
            <a:r>
              <a:rPr dirty="0"/>
              <a:t> tata </a:t>
            </a:r>
            <a:r>
              <a:rPr dirty="0" err="1"/>
              <a:t>letak</a:t>
            </a:r>
            <a:r>
              <a:rPr dirty="0"/>
              <a:t> </a:t>
            </a:r>
            <a:r>
              <a:rPr dirty="0" err="1"/>
              <a:t>responsif</a:t>
            </a:r>
            <a:r>
              <a:rPr dirty="0"/>
              <a:t> di </a:t>
            </a:r>
            <a:r>
              <a:rPr dirty="0" err="1"/>
              <a:t>peramban</a:t>
            </a:r>
            <a:r>
              <a:rPr dirty="0"/>
              <a:t> mobile dan desktop.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rPr dirty="0"/>
              <a:t>3. </a:t>
            </a:r>
            <a:r>
              <a:rPr dirty="0" err="1"/>
              <a:t>TanStack</a:t>
            </a:r>
            <a:r>
              <a:rPr dirty="0"/>
              <a:t> React Query: </a:t>
            </a:r>
            <a:r>
              <a:rPr dirty="0" err="1"/>
              <a:t>Manajemen</a:t>
            </a:r>
            <a:r>
              <a:rPr dirty="0"/>
              <a:t> state </a:t>
            </a:r>
            <a:r>
              <a:rPr dirty="0" err="1"/>
              <a:t>asinkron</a:t>
            </a:r>
            <a:r>
              <a:rPr dirty="0"/>
              <a:t> dan caching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ketersediaan</a:t>
            </a:r>
            <a:r>
              <a:rPr dirty="0"/>
              <a:t> </a:t>
            </a:r>
            <a:r>
              <a:rPr dirty="0" err="1"/>
              <a:t>jadwal</a:t>
            </a:r>
            <a:r>
              <a:rPr dirty="0"/>
              <a:t> slot </a:t>
            </a:r>
            <a:r>
              <a:rPr dirty="0" err="1"/>
              <a:t>sewa</a:t>
            </a:r>
            <a:r>
              <a:rPr dirty="0"/>
              <a:t>, </a:t>
            </a:r>
            <a:r>
              <a:rPr dirty="0" err="1"/>
              <a:t>menghemat</a:t>
            </a:r>
            <a:r>
              <a:rPr dirty="0"/>
              <a:t> </a:t>
            </a:r>
            <a:r>
              <a:rPr dirty="0" err="1"/>
              <a:t>beban</a:t>
            </a:r>
            <a:r>
              <a:rPr dirty="0"/>
              <a:t> </a:t>
            </a:r>
            <a:r>
              <a:rPr dirty="0" err="1"/>
              <a:t>lalu</a:t>
            </a:r>
            <a:r>
              <a:rPr dirty="0"/>
              <a:t> </a:t>
            </a:r>
            <a:r>
              <a:rPr dirty="0" err="1"/>
              <a:t>lintas</a:t>
            </a:r>
            <a:r>
              <a:rPr dirty="0"/>
              <a:t> data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peladen</a:t>
            </a:r>
            <a:r>
              <a:rPr dirty="0"/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Implementasi Back-End &amp; Alasan Pemilihan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 Black"/>
              </a:defRPr>
            </a:pPr>
            <a:r>
              <a:t>STACK: Express.js 5   •   Three-Tier Layered   •   Zod Validation   •   Session Auth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1. Pola Three-Tier (Routes -&gt; Controllers -&gt; Services): Memisahkan logika bisnis dari protokol HTTP dan akses data sehingga sistem modular, terstruktur, dan mudah dirawat.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2. Full-Stack TypeScript &amp; Zod: Memberikan jaminan keamanan tipe data (End-to-End Type Safety) antara front-end dan back-end guna mencegah galat tipe data API.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3. Session-Based Auth (HttpOnly Cookie): Menyimpan status otentikasi aman di basis data, melindungi sesi pengguna dari serangan pencurian token (XSS).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Implementasi Basis Data &amp; Alasan Pemilihan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 Black"/>
              </a:defRPr>
            </a:pPr>
            <a:r>
              <a:t>STACK: PostgreSQL 16   •   Prisma ORM   •   MVCC &amp; ACID   •   UUID Primary Key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1. PostgreSQL MVCC &amp; Transaksi ACID: Menangani konkurensi reservasi secara atomik saat banyak pengguna memesan slot waktu secara serentak tanpa deadlock data.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2. Prisma ORM (Schema Migration &amp; Client): Menyediakan akses data type-safe, migrasi deklaratif otomatis, serta proteksi terintegrasi dari SQL Injection.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3. UUID (Universally Unique Identifier): Mengamankan entitas data dari serangan enumerasi ID berurutan dan menjamin keunikan kunci primer lintas tabel.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Integrasi Layanan Pihak Ketiga &amp; Alasan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Arial Black"/>
              </a:defRPr>
            </a:pPr>
            <a:r>
              <a:t>STACK: Midtrans Snap API   •   ImageKit CDN   •   SMTP Nodemailer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1. Midtrans Snap API (Payment Gateway): Otomasi verifikasi pembayaran digital Indonesia (QRIS, VA, e-Wallet) via Webhook Callback tanpa verifikasi manual bukti struk.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2. ImageKit CDN (Media Cloud Storage): Kompresi dan pengoptimalan resolusi foto fasilitas olahraga secara real-time, mempercepat pemuatan halaman web.</a:t>
            </a:r>
          </a:p>
          <a:p>
            <a:pPr>
              <a:spcBef>
                <a:spcPts val="18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3. SMTP Nodemailer (Email Notification): Otomasi pengiriman kode OTP verifikasi akun 6 digit dan tautan pemulihan kata sandi (reset password) secara instan.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Implementasi Basis Data: 16 Tabel Relasional</a:t>
            </a:r>
          </a:p>
        </p:txBody>
      </p:sp>
      <p:pic>
        <p:nvPicPr>
          <p:cNvPr id="5" name="Picture 4" descr="gambar-relasi-t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08760"/>
            <a:ext cx="9631375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Implementasi Basis Data: Daftar Enum (Tabel 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91840" cy="1737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Consolas"/>
              </a:defRPr>
            </a:pPr>
            <a:r>
              <a:t>UserRole {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  USER</a:t>
            </a:r>
            <a:br/>
            <a:r>
              <a:t>  RENTER</a:t>
            </a:r>
            <a:br/>
            <a:r>
              <a:t>  ADMIN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1737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Consolas"/>
              </a:defRPr>
            </a:pPr>
            <a:r>
              <a:t>BookingStatus {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  PENDING</a:t>
            </a:r>
            <a:br/>
            <a:r>
              <a:t>  CONFIRMED</a:t>
            </a:r>
            <a:br/>
            <a:r>
              <a:t>  CANCELLED</a:t>
            </a:r>
            <a:br/>
            <a:r>
              <a:t>  COMPLETED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011680"/>
            <a:ext cx="3291840" cy="1737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59" y="214884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Consolas"/>
              </a:defRPr>
            </a:pPr>
            <a:r>
              <a:t>PaymentStatus {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  PENDING</a:t>
            </a:r>
            <a:br/>
            <a:r>
              <a:t>  PAID</a:t>
            </a:r>
            <a:br/>
            <a:r>
              <a:t>  EXPIRED</a:t>
            </a:r>
            <a:br/>
            <a:r>
              <a:t>  FAILED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3291840" cy="1737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Consolas"/>
              </a:defRPr>
            </a:pPr>
            <a:r>
              <a:t>VerificationStatus {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  DRAFT</a:t>
            </a:r>
            <a:br/>
            <a:r>
              <a:t>  PENDING</a:t>
            </a:r>
            <a:br/>
            <a:r>
              <a:t>  APPROVED</a:t>
            </a:r>
            <a:br/>
            <a:r>
              <a:t>  REJECTED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291840" cy="1737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Consolas"/>
              </a:defRPr>
            </a:pPr>
            <a:r>
              <a:t>ReportStatus {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  PENDING</a:t>
            </a:r>
            <a:br/>
            <a:r>
              <a:t>  RESOLVED</a:t>
            </a:r>
            <a:br/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931920"/>
            <a:ext cx="3291840" cy="1737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406908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Consolas"/>
              </a:defRPr>
            </a:pPr>
            <a:r>
              <a:t>ReportCategory {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  SCAM</a:t>
            </a:r>
            <a:br/>
            <a:r>
              <a:t>  TECHNICAL</a:t>
            </a:r>
            <a:br/>
            <a:r>
              <a:t>  PAYMENT</a:t>
            </a:r>
            <a:br/>
            <a:r>
              <a:t>  OTHER</a:t>
            </a:r>
            <a:br/>
            <a:r>
              <a:t>}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Struktur Tabel: users &amp; sessions (Tabel 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Tipe Field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String (UUID)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uuid()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full_name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Nama lengkap pengguna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No Default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Email unik untuk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No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Hash password akun (bcrypt)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No Default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UserRole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Hak akses (USER/RENTER/ADMIN)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Struktur Tabel: venues &amp; bookings (Tabel 11 &amp; 16)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202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Nama Field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Tipe Field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venues.id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String (UUID)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uuid()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venues.renter_id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Foreign Key ke users.id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No Default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venues.status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VerificationStatus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Status persetujuan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bookings.id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String (UUID)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uuid()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bookings.status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BookingStatus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Status transaksi reservasi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Logika Pencegahan Bentrok Jadwal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28016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0A5FA"/>
                </a:solidFill>
                <a:latin typeface="Consolas"/>
              </a:defRPr>
            </a:pPr>
            <a:r>
              <a:t>Kondisi Bentrok = (Start_req &lt; End_db) ∧ (End_req &gt; Start_db)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11827"/>
                </a:solidFill>
                <a:latin typeface="Arial"/>
              </a:defRPr>
            </a:pPr>
            <a:r>
              <a:t>1. Filter Status Kueri: Memeriksa reservasi aktif berstatus PENDING dan CONFIRMED.</a:t>
            </a:r>
          </a:p>
          <a:p>
            <a:pPr>
              <a:spcBef>
                <a:spcPts val="16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2. Presisi Batas Jam: Mengizinkan jam berdampingan (Adjacent Boundary, misal 08.00–10.00 dan 10.00–12.00).</a:t>
            </a:r>
          </a:p>
          <a:p>
            <a:pPr>
              <a:spcBef>
                <a:spcPts val="1600"/>
              </a:spcBef>
              <a:defRPr sz="1900">
                <a:solidFill>
                  <a:srgbClr val="111827"/>
                </a:solidFill>
                <a:latin typeface="Arial"/>
              </a:defRPr>
            </a:pPr>
            <a:r>
              <a:t>3. Two-Phase Status Locking: Slot terkunci 15 menit saat checkout dan otomatis lepas (Auto-Release) bila kedaluwarsa.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Hasil Evaluasi 7 Skenario Bentrok (Tabel 22)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769502"/>
              </p:ext>
            </p:extLst>
          </p:nvPr>
        </p:nvGraphicFramePr>
        <p:xfrm>
          <a:off x="82296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 err="1"/>
                        <a:t>Skenario</a:t>
                      </a:r>
                      <a:r>
                        <a:rPr dirty="0"/>
                        <a:t> Uji </a:t>
                      </a:r>
                      <a:r>
                        <a:rPr dirty="0" err="1"/>
                        <a:t>Bentrok</a:t>
                      </a:r>
                      <a:r>
                        <a:rPr dirty="0"/>
                        <a:t> (Case)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Kondisi DB vs Permintaan Baru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Hasil Evaluasi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rPr dirty="0"/>
                        <a:t>Exact Slot Match (Jam Sama)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Eksis: 08.00–10.00 (CONFIRMED) | Baru: 08.00–10.00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(Ditolak)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Start-Time Overlap (Tumpang Awal)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Eksis: 08.00–10.00 (CONFIRMED) | Baru: 07.00–09.00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(Ditolak)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End-Time Overlap (Tumpang Akhir)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Eksis: 08.00–10.00 (CONFIRMED) | Baru: 09.00–11.00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(Ditolak)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Enclosing Overlap (Tumpang Tengah)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Eksis: 08.00–12.00 (PENDING) | Baru: 09.00–11.00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(Ditolak)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Adjacent Boundary (Berdampingan)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Eksis: 08.00–10.00 (CONFIRMED) | Baru: 10.00–12.00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(Diterima)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Simultaneous Booking (Serentak)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Dua user memesan slot 14.00–16.00 bersamaan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(1 Terima, 1 Tolak)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Auto-Release on Expire/Cancel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Slot 16.00–18.00 PENDING kedaluwarsa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rPr dirty="0"/>
                        <a:t>100% Valid (Slot Terbuka)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Hasil Pengujian Black Box (6 Modul Sistem)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5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Modul Pengujian (Tabel Skripsi)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Cakupan Pengujian Fungsional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Hasil Evaluasi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Halaman Utama &amp; Pencarian (Tabel 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Filter cabor, geolokasi venue, detail tarif &amp; ketersediaan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(Berhasil)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rPr dirty="0" err="1"/>
                        <a:t>Otentikasi</a:t>
                      </a:r>
                      <a:r>
                        <a:rPr dirty="0"/>
                        <a:t> &amp; </a:t>
                      </a:r>
                      <a:r>
                        <a:rPr dirty="0" err="1"/>
                        <a:t>Manajemen</a:t>
                      </a:r>
                      <a:r>
                        <a:rPr dirty="0"/>
                        <a:t> Akun (Tabel 23)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Registrasi, OTP email, login session, proteksi role RBAC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(Berhasil)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Reservasi &amp; Pembayaran Midtrans (Tabel 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Booking slot waktu, invoice Snap Midtrans, webhook otomatis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(Berhasil)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Ulasan Lapangan &amp; Pengaduan (Tabel 25)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Rating bintang, ulasan pengguna, tiket komplain &amp; respon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(Berhasil)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Pengelolaan Sarana Mitra/Renter (Tabel 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CRUD venue, jam operasional, tarif lapangan, analitik omzet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100% Valid (Berhasil)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05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Panel Moderasi Administrator (Tabel 27)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Verifikasi legalitas venue, moderasi lapangan, master sport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rPr dirty="0"/>
                        <a:t>100% Valid (</a:t>
                      </a:r>
                      <a:r>
                        <a:rPr dirty="0" err="1"/>
                        <a:t>Berhasil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User Interface: Guest &amp; User</a:t>
            </a:r>
          </a:p>
        </p:txBody>
      </p:sp>
      <p:pic>
        <p:nvPicPr>
          <p:cNvPr id="5" name="Picture 4" descr="halaman-ut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329184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52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1. Halaman Utama (Pencarian)</a:t>
            </a:r>
          </a:p>
        </p:txBody>
      </p:sp>
      <p:pic>
        <p:nvPicPr>
          <p:cNvPr id="7" name="Picture 6" descr="halaman-detail-lapang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329184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5852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2. Detail Lapangan &amp; Slot Real-Time</a:t>
            </a:r>
          </a:p>
        </p:txBody>
      </p:sp>
      <p:pic>
        <p:nvPicPr>
          <p:cNvPr id="9" name="Picture 8" descr="halaman-riwayat-boo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1645920"/>
            <a:ext cx="329184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5852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3. Riwayat Sewa &amp; Invoice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III • HASIL DAN PEMBAHASAN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User Interface: Renter &amp; Administrator</a:t>
            </a:r>
          </a:p>
        </p:txBody>
      </p:sp>
      <p:pic>
        <p:nvPicPr>
          <p:cNvPr id="5" name="Picture 4" descr="halaman-dashboard-r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329184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52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1. Dashboard Mitra (Renter)</a:t>
            </a:r>
          </a:p>
        </p:txBody>
      </p:sp>
      <p:pic>
        <p:nvPicPr>
          <p:cNvPr id="7" name="Picture 6" descr="halaman-pendapatan-re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329184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5852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2. Analitik Omzet &amp; Pendapatan</a:t>
            </a:r>
          </a:p>
        </p:txBody>
      </p:sp>
      <p:pic>
        <p:nvPicPr>
          <p:cNvPr id="9" name="Picture 8" descr="halaman-moderasi-venue-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1645920"/>
            <a:ext cx="329184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5852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Arial"/>
              </a:defRPr>
            </a:pPr>
            <a:r>
              <a:t>3. Panel Moderasi Legalitas (Admin)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IV • KESIMPULAN &amp; SARAN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Kesimpulan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  <a:latin typeface="Arial"/>
              </a:defRPr>
            </a:pPr>
            <a:r>
              <a:t>1. Rancang Bangun Sistem Terpadu (Build): Platform FieldMax berhasil dibangun dengan Full-Stack TypeScript Monorepo (Next.js 16, Express.js 5, Prisma ORM, PostgreSQL 16, dan Midtrans Snap) yang mengintegrasikan 22 use cases untuk 3 peran pengguna secara efisien.</a:t>
            </a:r>
          </a:p>
          <a:p>
            <a:pPr>
              <a:spcBef>
                <a:spcPts val="2600"/>
              </a:spcBef>
              <a:defRPr sz="2000">
                <a:solidFill>
                  <a:srgbClr val="111827"/>
                </a:solidFill>
                <a:latin typeface="Arial"/>
              </a:defRPr>
            </a:pPr>
            <a:r>
              <a:t>2. Evaluasi Eliminasi Double Booking (Evaluate): Pengujian fungsionalitas Black Box Testing pada 6 modul utama (Tabel 22–27) dan validasi empiris 7 skenario irisan waktu terbukti 100% valid mengeliminasi potensi jadwal ganda (double booking) serta membebaskan kembali slot sewa yang kedaluwarsa secara otomatis.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BAB IV • KESIMPULAN &amp; SARAN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 Black"/>
              </a:defRPr>
            </a:pPr>
            <a:r>
              <a:t>Saran &amp; Rekomendasi Selanjutnya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Arial"/>
              </a:defRPr>
            </a:pPr>
            <a:r>
              <a:t>1. Aplikasi Mobile (Native / PWA): Pengembangan aplikasi bergerak yang dilengkapi push notification jadwal bermain.</a:t>
            </a:r>
          </a:p>
          <a:p>
            <a:pPr>
              <a:spcBef>
                <a:spcPts val="1400"/>
              </a:spcBef>
              <a:defRPr sz="1800">
                <a:solidFill>
                  <a:srgbClr val="111827"/>
                </a:solidFill>
                <a:latin typeface="Arial"/>
              </a:defRPr>
            </a:pPr>
            <a:r>
              <a:t>2. Peta Interaktif GIS (Maps API): Navigasi visual dan pencarian sarana terdekat berbasis geolokasi GPS pengguna.</a:t>
            </a:r>
          </a:p>
          <a:p>
            <a:pPr>
              <a:spcBef>
                <a:spcPts val="1400"/>
              </a:spcBef>
              <a:defRPr sz="1800">
                <a:solidFill>
                  <a:srgbClr val="111827"/>
                </a:solidFill>
                <a:latin typeface="Arial"/>
              </a:defRPr>
            </a:pPr>
            <a:r>
              <a:t>3. Komunitas &amp; Sparring Matchmaking: Fitur pencarian lawan tanding (sparring) dan pembagian tagihan sewa (split bill).</a:t>
            </a:r>
          </a:p>
          <a:p>
            <a:pPr>
              <a:spcBef>
                <a:spcPts val="1400"/>
              </a:spcBef>
              <a:defRPr sz="1800">
                <a:solidFill>
                  <a:srgbClr val="111827"/>
                </a:solidFill>
                <a:latin typeface="Arial"/>
              </a:defRPr>
            </a:pPr>
            <a:r>
              <a:t>4. Gateway WhatsApp Business API: Notifikasi kode booking dan bukti bayar digital instan via WhatsApp.</a:t>
            </a:r>
          </a:p>
          <a:p>
            <a:pPr>
              <a:spcBef>
                <a:spcPts val="1400"/>
              </a:spcBef>
              <a:defRPr sz="1800">
                <a:solidFill>
                  <a:srgbClr val="111827"/>
                </a:solidFill>
                <a:latin typeface="Arial"/>
              </a:defRPr>
            </a:pPr>
            <a:r>
              <a:t>5. Pengujian Beban (Stress Testing): Uji ketahanan database saat lonjakan transaksi masif pada jam-jam sibuk (peak hours).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111827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Arial"/>
              </a:defRPr>
            </a:pPr>
            <a:r>
              <a:t>Sesi Tanya Jawab, Kritik &amp; Saran Dewan Penguji</a:t>
            </a:r>
          </a:p>
          <a:p>
            <a:pPr>
              <a:spcBef>
                <a:spcPts val="1200"/>
              </a:spcBef>
              <a:defRPr sz="1500">
                <a:solidFill>
                  <a:srgbClr val="4B5563"/>
                </a:solidFill>
                <a:latin typeface="Arial"/>
              </a:defRPr>
            </a:pPr>
            <a:r>
              <a:t>Aflah Alifu Na Mappatajang Rahman • H071211012 • Sistem Informasi FMIPA Unhas 2025</a:t>
            </a:r>
          </a:p>
        </p:txBody>
      </p:sp>
      <p:sp>
        <p:nvSpPr>
          <p:cNvPr id="5" name="Oval 4"/>
          <p:cNvSpPr/>
          <p:nvPr/>
        </p:nvSpPr>
        <p:spPr>
          <a:xfrm>
            <a:off x="10972800" y="5760720"/>
            <a:ext cx="594360" cy="59436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3040</Words>
  <Application>Microsoft Office PowerPoint</Application>
  <PresentationFormat>Widescreen</PresentationFormat>
  <Paragraphs>372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Aflah Alifu</cp:lastModifiedBy>
  <cp:revision>2</cp:revision>
  <dcterms:created xsi:type="dcterms:W3CDTF">2013-01-27T09:14:16Z</dcterms:created>
  <dcterms:modified xsi:type="dcterms:W3CDTF">2026-08-24T03:16:12Z</dcterms:modified>
  <cp:category/>
</cp:coreProperties>
</file>